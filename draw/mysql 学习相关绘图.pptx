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3"/>
    <p:restoredTop sz="94654"/>
  </p:normalViewPr>
  <p:slideViewPr>
    <p:cSldViewPr snapToGrid="0">
      <p:cViewPr>
        <p:scale>
          <a:sx n="122" d="100"/>
          <a:sy n="122" d="100"/>
        </p:scale>
        <p:origin x="-110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48454-C53B-01D1-C497-A27664B74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60156B-7D00-59AE-D680-6563E5AA3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213D9-B397-1C97-75D9-7F92CC8E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9773E-2106-7F45-FA7C-F59A7EC1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33B21-855B-AE6C-E361-0346ED95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898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A27A7-E5A5-3FE2-4320-6499FB36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6F110-1506-12DC-B279-1EE02D268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827471-0BB7-1EBD-7C97-54FE2A27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BAD02A-7738-3D01-EC78-8502DEDA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4E6B4B-08B7-A5F5-2D4B-188BC8EE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4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DC0C7-24AD-2560-56D2-3A3D9AD6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007FF6-B07B-C848-1A06-D75751F80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E5369E-93C4-B84B-8129-A3C14ED0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CA15D9-A962-10EA-150F-21956A25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2E349-6EBF-D487-0B99-A2613293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928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3F801-2557-8450-2448-FE938773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7AB06-EDF3-EB87-A914-0F7772932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CCCBB0-DBD2-5D62-FEE9-C4534526F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8EB336-4DF3-D50F-7899-7C8F0D66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83115E-7464-8A49-B428-43623A64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E809E3-A255-EF6C-14FD-9393D4FB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780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E298C-F4FD-45F1-983F-2A70B738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F766D-83A6-91DA-7921-E7DCD9AD6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25DFEF-6414-6898-A91D-7FE5965DE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7B9909-62A0-2CCC-77B5-95FFC3070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3220E0-1C69-92EC-EE6D-68BF7D7FF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BEDF63-F2A0-FF32-8A3D-5C349A2D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A198C4-322C-498B-C6E1-D485B821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E2FB3D-AF5D-1D33-7DB0-DE3D97D6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725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DC2C4-D65A-25B2-FA11-E84263438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E70D2F-402A-7F1F-AAD6-C7A7C11A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510785-4491-6600-0BDA-23CB909A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EDB91-44BA-DD12-DD6A-633C6E80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513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9317A5-686A-357C-03A4-5A01BEEA5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27A1BE-8312-0A3F-E892-559E067E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301A2-4C6A-5FB1-3E5D-6275202C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8601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A73C6-CCAE-1239-9A65-3ED55769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932346-0558-B04D-133B-79C4D03C2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2BA833-0F7D-F245-FBCE-6E75CB4A9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172504-B643-7DA3-5A2B-2262CCF6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64484B-4DF2-091F-ADA2-E4BB8F6A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5D407C-E893-C0C5-CDC0-3A4BD5FA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640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F77CA4-3916-ABBE-06EA-1C58D0D4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895524-B848-1369-D5D1-DE58C31F2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F95B07-F19C-5C00-9BE5-50B8F452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1BAE8-858F-4122-0B37-12F097E1A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796631-C39F-3DC1-7F87-A30B424AC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09FA61-59B3-FC88-FC93-C92298A2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7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78C90-9CC8-2D3C-4CB7-DCF5E0DF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A5D51-50DE-103A-E08F-F38A6F17C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BC028-9909-82A2-DFF7-393A271E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F6E8F1-A394-B3A9-F893-296D10A5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53F46-FE96-4F04-B34E-B94CF28C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81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1E028A-78C3-19FF-3B30-DBBE688AF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CE0AE8-F297-33DB-483C-361A3EB8B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7938B8-DD53-DBAD-739B-3A132547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EEC626-F497-8795-CCB4-9B4E272D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64B57-D4B8-E2AA-2E7F-230CB8E5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6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9B47AA-638E-073F-167A-2CC3ACC8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DF0B1-7E46-E70B-DC60-7CB19EE8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BEF5D-B176-3951-3A55-E97A6D3F8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A05FD-CD24-684A-95BE-9203534834E5}" type="datetimeFigureOut">
              <a:rPr kumimoji="1" lang="zh-CN" altLang="en-US" smtClean="0"/>
              <a:t>2025/5/6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DC886-A0AA-9847-E473-CA595D857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464F2-C8F4-93F8-8662-3C938E0F0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18F9F-A87D-F942-BD7A-F418CDC9DC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25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2DC255A-3961-B55B-9792-0F0D91168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4810"/>
              </p:ext>
            </p:extLst>
          </p:nvPr>
        </p:nvGraphicFramePr>
        <p:xfrm>
          <a:off x="2175838" y="2312160"/>
          <a:ext cx="6791412" cy="167526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31902">
                  <a:extLst>
                    <a:ext uri="{9D8B030D-6E8A-4147-A177-3AD203B41FA5}">
                      <a16:colId xmlns:a16="http://schemas.microsoft.com/office/drawing/2014/main" val="767524432"/>
                    </a:ext>
                  </a:extLst>
                </a:gridCol>
                <a:gridCol w="1131902">
                  <a:extLst>
                    <a:ext uri="{9D8B030D-6E8A-4147-A177-3AD203B41FA5}">
                      <a16:colId xmlns:a16="http://schemas.microsoft.com/office/drawing/2014/main" val="279907123"/>
                    </a:ext>
                  </a:extLst>
                </a:gridCol>
                <a:gridCol w="1131902">
                  <a:extLst>
                    <a:ext uri="{9D8B030D-6E8A-4147-A177-3AD203B41FA5}">
                      <a16:colId xmlns:a16="http://schemas.microsoft.com/office/drawing/2014/main" val="434929019"/>
                    </a:ext>
                  </a:extLst>
                </a:gridCol>
                <a:gridCol w="1131902">
                  <a:extLst>
                    <a:ext uri="{9D8B030D-6E8A-4147-A177-3AD203B41FA5}">
                      <a16:colId xmlns:a16="http://schemas.microsoft.com/office/drawing/2014/main" val="1806990811"/>
                    </a:ext>
                  </a:extLst>
                </a:gridCol>
                <a:gridCol w="1131902">
                  <a:extLst>
                    <a:ext uri="{9D8B030D-6E8A-4147-A177-3AD203B41FA5}">
                      <a16:colId xmlns:a16="http://schemas.microsoft.com/office/drawing/2014/main" val="1873035165"/>
                    </a:ext>
                  </a:extLst>
                </a:gridCol>
                <a:gridCol w="1131902">
                  <a:extLst>
                    <a:ext uri="{9D8B030D-6E8A-4147-A177-3AD203B41FA5}">
                      <a16:colId xmlns:a16="http://schemas.microsoft.com/office/drawing/2014/main" val="518315121"/>
                    </a:ext>
                  </a:extLst>
                </a:gridCol>
              </a:tblGrid>
              <a:tr h="558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infimum</a:t>
                      </a:r>
                    </a:p>
                    <a:p>
                      <a:pPr algn="ctr"/>
                      <a:r>
                        <a:rPr lang="en-US" altLang="zh-CN" dirty="0"/>
                        <a:t>record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98546"/>
                  </a:ext>
                </a:extLst>
              </a:tr>
              <a:tr h="5584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老王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525907"/>
                  </a:ext>
                </a:extLst>
              </a:tr>
              <a:tr h="5584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42312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E954002-BBFD-2D6F-D0CF-6CD9D15B5248}"/>
              </a:ext>
            </a:extLst>
          </p:cNvPr>
          <p:cNvSpPr txBox="1"/>
          <p:nvPr/>
        </p:nvSpPr>
        <p:spPr>
          <a:xfrm>
            <a:off x="1497460" y="245165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D89F0A-134C-7331-30B7-7A4BF9325C9C}"/>
              </a:ext>
            </a:extLst>
          </p:cNvPr>
          <p:cNvSpPr txBox="1"/>
          <p:nvPr/>
        </p:nvSpPr>
        <p:spPr>
          <a:xfrm>
            <a:off x="1312313" y="2965124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name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837C06-56A0-304D-069A-ACE017442588}"/>
              </a:ext>
            </a:extLst>
          </p:cNvPr>
          <p:cNvSpPr txBox="1"/>
          <p:nvPr/>
        </p:nvSpPr>
        <p:spPr>
          <a:xfrm>
            <a:off x="1326909" y="3523545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age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A8BF94-F1C4-D12C-89D4-1733936FF6B5}"/>
              </a:ext>
            </a:extLst>
          </p:cNvPr>
          <p:cNvSpPr txBox="1"/>
          <p:nvPr/>
        </p:nvSpPr>
        <p:spPr>
          <a:xfrm>
            <a:off x="2637432" y="1290973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型临键锁</a:t>
            </a:r>
            <a:endParaRPr kumimoji="1" lang="en-US" altLang="zh-CN" sz="1400" dirty="0"/>
          </a:p>
          <a:p>
            <a:r>
              <a:rPr kumimoji="1" lang="en-US" altLang="zh-CN" sz="1400" dirty="0"/>
              <a:t>      (-∞, 1]</a:t>
            </a:r>
            <a:endParaRPr kumimoji="1" lang="zh-CN" altLang="en-US" sz="1400" dirty="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401A16D-A781-A34D-3668-9E9334D93A8F}"/>
              </a:ext>
            </a:extLst>
          </p:cNvPr>
          <p:cNvCxnSpPr>
            <a:cxnSpLocks/>
          </p:cNvCxnSpPr>
          <p:nvPr/>
        </p:nvCxnSpPr>
        <p:spPr>
          <a:xfrm>
            <a:off x="2743200" y="1392382"/>
            <a:ext cx="564222" cy="91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A1551C7-69C0-3939-D5FC-15E8AE190A98}"/>
              </a:ext>
            </a:extLst>
          </p:cNvPr>
          <p:cNvCxnSpPr>
            <a:cxnSpLocks/>
          </p:cNvCxnSpPr>
          <p:nvPr/>
        </p:nvCxnSpPr>
        <p:spPr>
          <a:xfrm flipH="1">
            <a:off x="3307422" y="1468543"/>
            <a:ext cx="562708" cy="84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8FDBD32-C848-B880-0838-CD0E07A38CE4}"/>
              </a:ext>
            </a:extLst>
          </p:cNvPr>
          <p:cNvSpPr txBox="1"/>
          <p:nvPr/>
        </p:nvSpPr>
        <p:spPr>
          <a:xfrm>
            <a:off x="2016819" y="4260866"/>
            <a:ext cx="1391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特殊记录</a:t>
            </a:r>
            <a:endParaRPr kumimoji="1" lang="en-US" altLang="zh-CN" dirty="0"/>
          </a:p>
          <a:p>
            <a:r>
              <a:rPr kumimoji="1" lang="zh-CN" altLang="en-US" dirty="0"/>
              <a:t>标记最小值</a:t>
            </a:r>
            <a:endParaRPr kumimoji="1"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41E49E9-083E-1C1F-89E6-D908CFD759DB}"/>
              </a:ext>
            </a:extLst>
          </p:cNvPr>
          <p:cNvSpPr txBox="1"/>
          <p:nvPr/>
        </p:nvSpPr>
        <p:spPr>
          <a:xfrm>
            <a:off x="3877206" y="1319448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型临键锁</a:t>
            </a:r>
            <a:endParaRPr kumimoji="1" lang="en-US" altLang="zh-CN" sz="1400" dirty="0"/>
          </a:p>
          <a:p>
            <a:r>
              <a:rPr kumimoji="1" lang="en-US" altLang="zh-CN" sz="1400" dirty="0"/>
              <a:t>      (1</a:t>
            </a:r>
            <a:r>
              <a:rPr kumimoji="1" lang="en-US" altLang="zh-CN" sz="1400"/>
              <a:t>, 6</a:t>
            </a:r>
            <a:endParaRPr kumimoji="1"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9FB4D21-2A5A-3964-161B-B65412389894}"/>
              </a:ext>
            </a:extLst>
          </p:cNvPr>
          <p:cNvCxnSpPr>
            <a:cxnSpLocks/>
          </p:cNvCxnSpPr>
          <p:nvPr/>
        </p:nvCxnSpPr>
        <p:spPr>
          <a:xfrm>
            <a:off x="3877206" y="1418188"/>
            <a:ext cx="564222" cy="91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4C6E564B-5EF8-5877-2135-05C004BCA9FC}"/>
              </a:ext>
            </a:extLst>
          </p:cNvPr>
          <p:cNvCxnSpPr>
            <a:cxnSpLocks/>
          </p:cNvCxnSpPr>
          <p:nvPr/>
        </p:nvCxnSpPr>
        <p:spPr>
          <a:xfrm flipH="1">
            <a:off x="4441428" y="1494349"/>
            <a:ext cx="562708" cy="84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97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22FBCD8-9710-74AF-B405-A56FD6E16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780983"/>
              </p:ext>
            </p:extLst>
          </p:nvPr>
        </p:nvGraphicFramePr>
        <p:xfrm>
          <a:off x="2175838" y="2312160"/>
          <a:ext cx="6791414" cy="11168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70202">
                  <a:extLst>
                    <a:ext uri="{9D8B030D-6E8A-4147-A177-3AD203B41FA5}">
                      <a16:colId xmlns:a16="http://schemas.microsoft.com/office/drawing/2014/main" val="767524432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279907123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434929019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1806990811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1873035165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636979052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518315121"/>
                    </a:ext>
                  </a:extLst>
                </a:gridCol>
              </a:tblGrid>
              <a:tr h="5584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infimum</a:t>
                      </a:r>
                    </a:p>
                    <a:p>
                      <a:pPr algn="ctr"/>
                      <a:r>
                        <a:rPr lang="en-US" altLang="zh-CN" dirty="0"/>
                        <a:t>record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98546"/>
                  </a:ext>
                </a:extLst>
              </a:tr>
              <a:tr h="5584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5259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73D811-9425-2094-1BB1-B4C1B5858EF9}"/>
              </a:ext>
            </a:extLst>
          </p:cNvPr>
          <p:cNvSpPr txBox="1"/>
          <p:nvPr/>
        </p:nvSpPr>
        <p:spPr>
          <a:xfrm>
            <a:off x="647299" y="287529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id</a:t>
            </a:r>
          </a:p>
          <a:p>
            <a:r>
              <a:rPr kumimoji="1" lang="zh-CN" altLang="en-US" dirty="0"/>
              <a:t>唯一索引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674330-5A2E-58E8-18C4-E3D0C78C8D49}"/>
              </a:ext>
            </a:extLst>
          </p:cNvPr>
          <p:cNvSpPr txBox="1"/>
          <p:nvPr/>
        </p:nvSpPr>
        <p:spPr>
          <a:xfrm>
            <a:off x="647299" y="2224249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index_age</a:t>
            </a:r>
          </a:p>
          <a:p>
            <a:r>
              <a:rPr kumimoji="1" lang="zh-CN" altLang="en-US" dirty="0"/>
              <a:t>非唯一索引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8147FC-A2F9-2BC6-6B63-CAD75174A51E}"/>
              </a:ext>
            </a:extLst>
          </p:cNvPr>
          <p:cNvSpPr txBox="1"/>
          <p:nvPr/>
        </p:nvSpPr>
        <p:spPr>
          <a:xfrm>
            <a:off x="5380632" y="1290973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型间隙锁</a:t>
            </a:r>
            <a:endParaRPr kumimoji="1" lang="en-US" altLang="zh-CN" sz="1400" dirty="0"/>
          </a:p>
          <a:p>
            <a:r>
              <a:rPr kumimoji="1" lang="en-US" altLang="zh-CN" sz="1400" dirty="0"/>
              <a:t>      (23, 29)</a:t>
            </a:r>
            <a:endParaRPr kumimoji="1" lang="zh-CN" altLang="en-US" sz="1400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13E21DCE-361E-99E2-E0B2-CCA1DB804DE8}"/>
              </a:ext>
            </a:extLst>
          </p:cNvPr>
          <p:cNvCxnSpPr>
            <a:cxnSpLocks/>
          </p:cNvCxnSpPr>
          <p:nvPr/>
        </p:nvCxnSpPr>
        <p:spPr>
          <a:xfrm>
            <a:off x="5486400" y="1392382"/>
            <a:ext cx="564222" cy="91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E42B1A8C-679D-A53F-8693-7F9706BEE298}"/>
              </a:ext>
            </a:extLst>
          </p:cNvPr>
          <p:cNvCxnSpPr>
            <a:cxnSpLocks/>
          </p:cNvCxnSpPr>
          <p:nvPr/>
        </p:nvCxnSpPr>
        <p:spPr>
          <a:xfrm flipH="1">
            <a:off x="6050622" y="1468543"/>
            <a:ext cx="562708" cy="84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8B6C497-6262-A97E-C8B7-1A63CE42A354}"/>
              </a:ext>
            </a:extLst>
          </p:cNvPr>
          <p:cNvSpPr txBox="1"/>
          <p:nvPr/>
        </p:nvSpPr>
        <p:spPr>
          <a:xfrm>
            <a:off x="861670" y="890863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对二级索引进行加锁分析时</a:t>
            </a:r>
            <a:endParaRPr kumimoji="1"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要先对</a:t>
            </a:r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</a:rPr>
              <a:t> age </a:t>
            </a:r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索引进行排序，</a:t>
            </a:r>
            <a:endParaRPr kumimoji="1"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这样才能清楚知道锁范围的左边界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E3CC0A-0D6C-2073-71B3-8BA254BF879E}"/>
              </a:ext>
            </a:extLst>
          </p:cNvPr>
          <p:cNvSpPr txBox="1"/>
          <p:nvPr/>
        </p:nvSpPr>
        <p:spPr>
          <a:xfrm>
            <a:off x="3529960" y="3742301"/>
            <a:ext cx="408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非唯一索引 等值查询记录存在的情况</a:t>
            </a:r>
          </a:p>
        </p:txBody>
      </p:sp>
    </p:spTree>
    <p:extLst>
      <p:ext uri="{BB962C8B-B14F-4D97-AF65-F5344CB8AC3E}">
        <p14:creationId xmlns:p14="http://schemas.microsoft.com/office/powerpoint/2010/main" val="440086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16EB386-64B6-C0C2-B90C-9D827FB58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13106"/>
              </p:ext>
            </p:extLst>
          </p:nvPr>
        </p:nvGraphicFramePr>
        <p:xfrm>
          <a:off x="2175838" y="2312160"/>
          <a:ext cx="6791414" cy="111684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970202">
                  <a:extLst>
                    <a:ext uri="{9D8B030D-6E8A-4147-A177-3AD203B41FA5}">
                      <a16:colId xmlns:a16="http://schemas.microsoft.com/office/drawing/2014/main" val="767524432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279907123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434929019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1806990811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1873035165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636979052"/>
                    </a:ext>
                  </a:extLst>
                </a:gridCol>
                <a:gridCol w="970202">
                  <a:extLst>
                    <a:ext uri="{9D8B030D-6E8A-4147-A177-3AD203B41FA5}">
                      <a16:colId xmlns:a16="http://schemas.microsoft.com/office/drawing/2014/main" val="518315121"/>
                    </a:ext>
                  </a:extLst>
                </a:gridCol>
              </a:tblGrid>
              <a:tr h="5584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infimum</a:t>
                      </a:r>
                    </a:p>
                    <a:p>
                      <a:pPr algn="ctr"/>
                      <a:r>
                        <a:rPr lang="en-US" altLang="zh-CN" dirty="0"/>
                        <a:t>record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098546"/>
                  </a:ext>
                </a:extLst>
              </a:tr>
              <a:tr h="558420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52590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12193CE-8AE9-D123-5D50-8FC31B16A77C}"/>
              </a:ext>
            </a:extLst>
          </p:cNvPr>
          <p:cNvSpPr txBox="1"/>
          <p:nvPr/>
        </p:nvSpPr>
        <p:spPr>
          <a:xfrm>
            <a:off x="647299" y="287529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id</a:t>
            </a:r>
          </a:p>
          <a:p>
            <a:r>
              <a:rPr kumimoji="1" lang="zh-CN" altLang="en-US" dirty="0"/>
              <a:t>唯一索引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93DFE9-CE9C-8A52-ADB1-6AE53987F2F4}"/>
              </a:ext>
            </a:extLst>
          </p:cNvPr>
          <p:cNvSpPr txBox="1"/>
          <p:nvPr/>
        </p:nvSpPr>
        <p:spPr>
          <a:xfrm>
            <a:off x="647299" y="2224249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index_age</a:t>
            </a:r>
          </a:p>
          <a:p>
            <a:r>
              <a:rPr kumimoji="1" lang="zh-CN" altLang="en-US" dirty="0"/>
              <a:t>非唯一索引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609D7E-9CE9-8B86-F57B-5A0986632419}"/>
              </a:ext>
            </a:extLst>
          </p:cNvPr>
          <p:cNvSpPr txBox="1"/>
          <p:nvPr/>
        </p:nvSpPr>
        <p:spPr>
          <a:xfrm>
            <a:off x="3336675" y="1067441"/>
            <a:ext cx="1736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</a:t>
            </a:r>
            <a:r>
              <a:rPr kumimoji="1" lang="en-US" altLang="zh-CN" sz="1400" dirty="0"/>
              <a:t>next-key lock</a:t>
            </a:r>
          </a:p>
          <a:p>
            <a:r>
              <a:rPr kumimoji="1" lang="en-US" altLang="zh-CN" sz="1400" dirty="0"/>
              <a:t>      (12, 23]</a:t>
            </a:r>
            <a:endParaRPr kumimoji="1" lang="zh-CN" altLang="en-US" sz="1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26EDD93-FCCE-EF46-6117-329A8DE4575A}"/>
              </a:ext>
            </a:extLst>
          </p:cNvPr>
          <p:cNvCxnSpPr>
            <a:cxnSpLocks/>
          </p:cNvCxnSpPr>
          <p:nvPr/>
        </p:nvCxnSpPr>
        <p:spPr>
          <a:xfrm>
            <a:off x="3520501" y="1392382"/>
            <a:ext cx="564222" cy="91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3B7A4EF-4298-D247-1E66-86819F79CD06}"/>
              </a:ext>
            </a:extLst>
          </p:cNvPr>
          <p:cNvCxnSpPr>
            <a:cxnSpLocks/>
          </p:cNvCxnSpPr>
          <p:nvPr/>
        </p:nvCxnSpPr>
        <p:spPr>
          <a:xfrm flipH="1">
            <a:off x="4084723" y="1468543"/>
            <a:ext cx="562708" cy="84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ACBAB1-8A10-78CD-73F0-50FB2C652CD5}"/>
              </a:ext>
            </a:extLst>
          </p:cNvPr>
          <p:cNvSpPr txBox="1"/>
          <p:nvPr/>
        </p:nvSpPr>
        <p:spPr>
          <a:xfrm>
            <a:off x="7137376" y="1054131"/>
            <a:ext cx="3647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对二级索引进行加锁分析时</a:t>
            </a:r>
            <a:endParaRPr kumimoji="1"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要先对</a:t>
            </a:r>
            <a:r>
              <a:rPr kumimoji="1" lang="en-US" altLang="zh-CN" dirty="0">
                <a:solidFill>
                  <a:schemeClr val="accent1">
                    <a:lumMod val="75000"/>
                  </a:schemeClr>
                </a:solidFill>
              </a:rPr>
              <a:t> age </a:t>
            </a:r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索引进行排序，</a:t>
            </a:r>
            <a:endParaRPr kumimoji="1"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accent1">
                    <a:lumMod val="75000"/>
                  </a:schemeClr>
                </a:solidFill>
              </a:rPr>
              <a:t>这样才能清楚知道锁范围的左边界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31BD11-B9E5-8D3A-A419-0F8CFAC1BF6C}"/>
              </a:ext>
            </a:extLst>
          </p:cNvPr>
          <p:cNvSpPr txBox="1"/>
          <p:nvPr/>
        </p:nvSpPr>
        <p:spPr>
          <a:xfrm>
            <a:off x="3529960" y="4834073"/>
            <a:ext cx="40831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非唯一索引 等值查询记录存在的情况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960566-BB97-467C-93D5-FBBC9AFC34F0}"/>
              </a:ext>
            </a:extLst>
          </p:cNvPr>
          <p:cNvSpPr txBox="1"/>
          <p:nvPr/>
        </p:nvSpPr>
        <p:spPr>
          <a:xfrm>
            <a:off x="5429386" y="1116101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</a:t>
            </a:r>
            <a:r>
              <a:rPr kumimoji="1" lang="en-US" altLang="zh-CN" sz="1400" dirty="0"/>
              <a:t>gap lock</a:t>
            </a:r>
          </a:p>
          <a:p>
            <a:r>
              <a:rPr kumimoji="1" lang="en-US" altLang="zh-CN" sz="1400" dirty="0"/>
              <a:t>      (23, 29)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ABF9B8A2-1C13-2ACC-8B00-341E28F101D9}"/>
              </a:ext>
            </a:extLst>
          </p:cNvPr>
          <p:cNvCxnSpPr>
            <a:cxnSpLocks/>
          </p:cNvCxnSpPr>
          <p:nvPr/>
        </p:nvCxnSpPr>
        <p:spPr>
          <a:xfrm>
            <a:off x="5488821" y="1430462"/>
            <a:ext cx="564222" cy="919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06A65EAA-FE0F-5840-71AF-D97AFAF653B6}"/>
              </a:ext>
            </a:extLst>
          </p:cNvPr>
          <p:cNvCxnSpPr>
            <a:cxnSpLocks/>
          </p:cNvCxnSpPr>
          <p:nvPr/>
        </p:nvCxnSpPr>
        <p:spPr>
          <a:xfrm flipH="1">
            <a:off x="6053043" y="1497271"/>
            <a:ext cx="562708" cy="84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BCE4432-84A0-1571-3A97-BA325A4704D6}"/>
              </a:ext>
            </a:extLst>
          </p:cNvPr>
          <p:cNvCxnSpPr/>
          <p:nvPr/>
        </p:nvCxnSpPr>
        <p:spPr>
          <a:xfrm flipV="1">
            <a:off x="4647431" y="3521628"/>
            <a:ext cx="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BDF108E-0F30-497A-C2C8-107C9764BB8E}"/>
              </a:ext>
            </a:extLst>
          </p:cNvPr>
          <p:cNvCxnSpPr/>
          <p:nvPr/>
        </p:nvCxnSpPr>
        <p:spPr>
          <a:xfrm flipV="1">
            <a:off x="5571545" y="3521627"/>
            <a:ext cx="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280DE7C-E79F-4631-8926-586EFA8D0B9D}"/>
              </a:ext>
            </a:extLst>
          </p:cNvPr>
          <p:cNvSpPr txBox="1"/>
          <p:nvPr/>
        </p:nvSpPr>
        <p:spPr>
          <a:xfrm>
            <a:off x="4181553" y="4047227"/>
            <a:ext cx="2133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主键索引锁：</a:t>
            </a:r>
            <a:r>
              <a:rPr kumimoji="1" lang="en-US" altLang="zh-CN" sz="1400" dirty="0"/>
              <a:t>X </a:t>
            </a:r>
            <a:r>
              <a:rPr kumimoji="1" lang="zh-CN" altLang="en-US" sz="1400" dirty="0"/>
              <a:t>型记录锁</a:t>
            </a:r>
            <a:endParaRPr kumimoji="1" lang="en-US" altLang="zh-CN" sz="1400" dirty="0"/>
          </a:p>
          <a:p>
            <a:r>
              <a:rPr kumimoji="1" lang="en-US" altLang="zh-CN" sz="1400" dirty="0"/>
              <a:t> id=1, id=5</a:t>
            </a:r>
            <a:endParaRPr kumimoji="1"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C183FA-8674-0443-19E5-2B6604B389FA}"/>
              </a:ext>
            </a:extLst>
          </p:cNvPr>
          <p:cNvSpPr txBox="1"/>
          <p:nvPr/>
        </p:nvSpPr>
        <p:spPr>
          <a:xfrm>
            <a:off x="4320956" y="1668671"/>
            <a:ext cx="1736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加</a:t>
            </a:r>
            <a:r>
              <a:rPr kumimoji="1" lang="en-US" altLang="zh-CN" sz="1400" dirty="0"/>
              <a:t> X</a:t>
            </a:r>
            <a:r>
              <a:rPr kumimoji="1" lang="zh-CN" altLang="en-US" sz="1400" dirty="0"/>
              <a:t>型</a:t>
            </a:r>
            <a:r>
              <a:rPr kumimoji="1" lang="en-US" altLang="zh-CN" sz="1400" dirty="0"/>
              <a:t>next-key lock</a:t>
            </a:r>
          </a:p>
          <a:p>
            <a:r>
              <a:rPr kumimoji="1" lang="en-US" altLang="zh-CN" sz="1400" dirty="0"/>
              <a:t>      (23, 23]</a:t>
            </a:r>
            <a:endParaRPr kumimoji="1" lang="zh-CN" altLang="en-US" sz="1400" dirty="0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355D0F3B-537D-AA27-C0A4-45A6B9EB7846}"/>
              </a:ext>
            </a:extLst>
          </p:cNvPr>
          <p:cNvCxnSpPr>
            <a:cxnSpLocks/>
          </p:cNvCxnSpPr>
          <p:nvPr/>
        </p:nvCxnSpPr>
        <p:spPr>
          <a:xfrm>
            <a:off x="4701391" y="1654595"/>
            <a:ext cx="377041" cy="677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0C7256B-B3B2-5EEE-DC28-52B61827AE62}"/>
              </a:ext>
            </a:extLst>
          </p:cNvPr>
          <p:cNvCxnSpPr>
            <a:cxnSpLocks/>
          </p:cNvCxnSpPr>
          <p:nvPr/>
        </p:nvCxnSpPr>
        <p:spPr>
          <a:xfrm flipH="1">
            <a:off x="5078432" y="1703255"/>
            <a:ext cx="405005" cy="628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821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07521587-6DA0-2225-2763-9243B47EBF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253204"/>
              </p:ext>
            </p:extLst>
          </p:nvPr>
        </p:nvGraphicFramePr>
        <p:xfrm>
          <a:off x="2032000" y="719666"/>
          <a:ext cx="8128000" cy="3850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198459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18353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事务</a:t>
                      </a:r>
                      <a:r>
                        <a:rPr lang="en-US" altLang="zh-CN" dirty="0"/>
                        <a:t> 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事务</a:t>
                      </a:r>
                      <a:r>
                        <a:rPr lang="en-US" altLang="zh-CN" dirty="0"/>
                        <a:t> 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8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begin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begin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922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update student </a:t>
                      </a:r>
                    </a:p>
                    <a:p>
                      <a:pPr algn="ctr"/>
                      <a:r>
                        <a:rPr lang="en-US" altLang="zh-CN" dirty="0"/>
                        <a:t>set score=100 where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id = 25</a:t>
                      </a:r>
                      <a:r>
                        <a:rPr lang="en-US" altLang="zh-CN" dirty="0"/>
                        <a:t>;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239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update student </a:t>
                      </a:r>
                    </a:p>
                    <a:p>
                      <a:pPr algn="ctr"/>
                      <a:r>
                        <a:rPr lang="en-US" altLang="zh-CN" dirty="0"/>
                        <a:t>set score=100 where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id = 26</a:t>
                      </a:r>
                      <a:r>
                        <a:rPr lang="en-US" altLang="zh-CN" dirty="0"/>
                        <a:t>;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5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 into student(id, no, name, age, score) value(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25</a:t>
                      </a:r>
                      <a:r>
                        <a:rPr lang="en-US" altLang="zh-CN" dirty="0"/>
                        <a:t>, x, x, x, x)</a:t>
                      </a:r>
                    </a:p>
                    <a:p>
                      <a:pPr algn="ctr"/>
                      <a:r>
                        <a:rPr lang="zh-CN" altLang="en-US" dirty="0"/>
                        <a:t>阻塞等待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36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 into student(id, no, name, age, score) value(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26</a:t>
                      </a:r>
                      <a:r>
                        <a:rPr lang="en-US" altLang="zh-CN" dirty="0"/>
                        <a:t>, x, x, x, x)</a:t>
                      </a:r>
                    </a:p>
                    <a:p>
                      <a:pPr algn="ctr"/>
                      <a:r>
                        <a:rPr lang="zh-CN" altLang="en-US" dirty="0"/>
                        <a:t>阻塞等待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2039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1A04965-A26B-6D29-7DAC-7FD8A198B2D2}"/>
              </a:ext>
            </a:extLst>
          </p:cNvPr>
          <p:cNvSpPr txBox="1"/>
          <p:nvPr/>
        </p:nvSpPr>
        <p:spPr>
          <a:xfrm>
            <a:off x="1060704" y="1536192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B5F4FB-53D9-ECE7-96E2-927F83FE00FB}"/>
              </a:ext>
            </a:extLst>
          </p:cNvPr>
          <p:cNvSpPr txBox="1"/>
          <p:nvPr/>
        </p:nvSpPr>
        <p:spPr>
          <a:xfrm>
            <a:off x="1060703" y="2275654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Time2</a:t>
            </a:r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559020-A887-AC01-3DBD-AB7B2DA7DBD1}"/>
              </a:ext>
            </a:extLst>
          </p:cNvPr>
          <p:cNvSpPr txBox="1"/>
          <p:nvPr/>
        </p:nvSpPr>
        <p:spPr>
          <a:xfrm>
            <a:off x="1058823" y="3073646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Time3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1E3F7E-CA6C-1716-538A-CB51A6458957}"/>
              </a:ext>
            </a:extLst>
          </p:cNvPr>
          <p:cNvSpPr txBox="1"/>
          <p:nvPr/>
        </p:nvSpPr>
        <p:spPr>
          <a:xfrm>
            <a:off x="1058822" y="4028349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Time4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EB4EC8-B04F-6681-C6F1-BFDB465C1E4A}"/>
              </a:ext>
            </a:extLst>
          </p:cNvPr>
          <p:cNvSpPr txBox="1"/>
          <p:nvPr/>
        </p:nvSpPr>
        <p:spPr>
          <a:xfrm>
            <a:off x="2465614" y="5159829"/>
            <a:ext cx="417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间隙锁</a:t>
            </a:r>
            <a:r>
              <a:rPr kumimoji="1" lang="en-US" altLang="zh-CN" dirty="0"/>
              <a:t>+</a:t>
            </a:r>
            <a:r>
              <a:rPr kumimoji="1" lang="zh-CN" altLang="en-US" dirty="0"/>
              <a:t>插入意向锁，导致死锁的情况</a:t>
            </a:r>
          </a:p>
        </p:txBody>
      </p:sp>
    </p:spTree>
    <p:extLst>
      <p:ext uri="{BB962C8B-B14F-4D97-AF65-F5344CB8AC3E}">
        <p14:creationId xmlns:p14="http://schemas.microsoft.com/office/powerpoint/2010/main" val="5836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827242F-B1A4-49A2-DA81-18FDCAD13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199800"/>
              </p:ext>
            </p:extLst>
          </p:nvPr>
        </p:nvGraphicFramePr>
        <p:xfrm>
          <a:off x="2032000" y="719666"/>
          <a:ext cx="6773335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832728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315373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963705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292545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1670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trx_id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roll_ptr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balance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6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0x01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张三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90419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11B7668-4239-1E26-B3A8-74B4747BB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826235"/>
              </p:ext>
            </p:extLst>
          </p:nvPr>
        </p:nvGraphicFramePr>
        <p:xfrm>
          <a:off x="2032000" y="2064052"/>
          <a:ext cx="6773335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832728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315373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963705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8292545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16701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trx_id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roll_ptr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balance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6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0x02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李四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90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959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26709</TotalTime>
  <Words>355</Words>
  <Application>Microsoft Macintosh PowerPoint</Application>
  <PresentationFormat>宽屏</PresentationFormat>
  <Paragraphs>117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5</cp:revision>
  <dcterms:created xsi:type="dcterms:W3CDTF">2023-11-18T13:15:34Z</dcterms:created>
  <dcterms:modified xsi:type="dcterms:W3CDTF">2025-05-06T10:33:41Z</dcterms:modified>
</cp:coreProperties>
</file>